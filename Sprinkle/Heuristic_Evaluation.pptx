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2" roundtripDataSignature="AMtx7mgXs4qU+XfznXMFBZMxa4AYmgR4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187" y="685800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187" y="685800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381187" y="685800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381187" y="685800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381187" y="685800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/>
          <p:nvPr>
            <p:ph idx="2" type="sldImg"/>
          </p:nvPr>
        </p:nvSpPr>
        <p:spPr>
          <a:xfrm>
            <a:off x="381187" y="685800"/>
            <a:ext cx="6096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110000" lIns="110000" spcFirstLastPara="1" rIns="110000" wrap="square" tIns="110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000" lIns="110000" spcFirstLastPara="1" rIns="110000" wrap="square" tIns="110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000" lIns="110000" spcFirstLastPara="1" rIns="110000" wrap="square" tIns="110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000" lIns="110000" spcFirstLastPara="1" rIns="110000" wrap="square" tIns="110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000" lIns="110000" spcFirstLastPara="1" rIns="110000" wrap="square" tIns="1100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l">
              <a:lnSpc>
                <a:spcPct val="115000"/>
              </a:lnSpc>
              <a:spcBef>
                <a:spcPts val="1900"/>
              </a:spcBef>
              <a:spcAft>
                <a:spcPts val="19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000" lIns="110000" spcFirstLastPara="1" rIns="110000" wrap="square" tIns="110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000" lIns="110000" spcFirstLastPara="1" rIns="110000" wrap="square" tIns="110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000" lIns="110000" spcFirstLastPara="1" rIns="110000" wrap="square" tIns="110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000" lIns="110000" spcFirstLastPara="1" rIns="110000" wrap="square" tIns="110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000" lIns="110000" spcFirstLastPara="1" rIns="110000" wrap="square" tIns="110000">
            <a:no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1900"/>
              </a:spcBef>
              <a:spcAft>
                <a:spcPts val="19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000" lIns="110000" spcFirstLastPara="1" rIns="110000" wrap="square" tIns="110000">
            <a:no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1900"/>
              </a:spcBef>
              <a:spcAft>
                <a:spcPts val="19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000" lIns="110000" spcFirstLastPara="1" rIns="110000" wrap="square" tIns="110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000" lIns="110000" spcFirstLastPara="1" rIns="110000" wrap="square" tIns="110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000" lIns="110000" spcFirstLastPara="1" rIns="110000" wrap="square" tIns="110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110000" lIns="110000" spcFirstLastPara="1" rIns="110000" wrap="square" tIns="110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000" lIns="110000" spcFirstLastPara="1" rIns="110000" wrap="square" tIns="11000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1900"/>
              </a:spcBef>
              <a:spcAft>
                <a:spcPts val="19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000" lIns="110000" spcFirstLastPara="1" rIns="110000" wrap="square" tIns="110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000" lIns="110000" spcFirstLastPara="1" rIns="110000" wrap="square" tIns="110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000" lIns="110000" spcFirstLastPara="1" rIns="110000" wrap="square" tIns="110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0000" lIns="110000" spcFirstLastPara="1" rIns="110000" wrap="square" tIns="11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10000" lIns="110000" spcFirstLastPara="1" rIns="110000" wrap="square" tIns="110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000" lIns="110000" spcFirstLastPara="1" rIns="110000" wrap="square" tIns="110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000" lIns="110000" spcFirstLastPara="1" rIns="110000" wrap="square" tIns="1100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l">
              <a:lnSpc>
                <a:spcPct val="115000"/>
              </a:lnSpc>
              <a:spcBef>
                <a:spcPts val="1900"/>
              </a:spcBef>
              <a:spcAft>
                <a:spcPts val="19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000" lIns="110000" spcFirstLastPara="1" rIns="110000" wrap="square" tIns="110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000" lIns="110000" spcFirstLastPara="1" rIns="110000" wrap="square" tIns="110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000" lIns="110000" spcFirstLastPara="1" rIns="110000" wrap="square" tIns="110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110000" lIns="110000" spcFirstLastPara="1" rIns="110000" wrap="square" tIns="110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0"/>
              <a:buNone/>
              <a:defRPr sz="144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000" lIns="110000" spcFirstLastPara="1" rIns="110000" wrap="square" tIns="110000">
            <a:noAutofit/>
          </a:bodyPr>
          <a:lstStyle>
            <a:lvl1pPr indent="-3619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 algn="ctr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lnSpc>
                <a:spcPct val="115000"/>
              </a:lnSpc>
              <a:spcBef>
                <a:spcPts val="1900"/>
              </a:spcBef>
              <a:spcAft>
                <a:spcPts val="19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000" lIns="110000" spcFirstLastPara="1" rIns="110000" wrap="square" tIns="110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000" lIns="110000" spcFirstLastPara="1" rIns="110000" wrap="square" tIns="110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000" lIns="110000" spcFirstLastPara="1" rIns="110000" wrap="square" tIns="110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0000" lIns="110000" spcFirstLastPara="1" rIns="110000" wrap="square" tIns="110000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●"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○"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6550" lvl="2" marL="1371600" marR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■"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6550" lvl="3" marL="1828800" marR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6550" lvl="4" marL="2286000" marR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○"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6550" lvl="5" marL="2743200" marR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■"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6550" lvl="6" marL="3200400" marR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6550" lvl="7" marL="3657600" marR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○"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6550" lvl="8" marL="4114800" marR="0" rtl="0" algn="l">
              <a:lnSpc>
                <a:spcPct val="115000"/>
              </a:lnSpc>
              <a:spcBef>
                <a:spcPts val="1900"/>
              </a:spcBef>
              <a:spcAft>
                <a:spcPts val="1900"/>
              </a:spcAft>
              <a:buClr>
                <a:schemeClr val="dk2"/>
              </a:buClr>
              <a:buSzPts val="1700"/>
              <a:buFont typeface="Arial"/>
              <a:buChar char="■"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0000" lIns="110000" spcFirstLastPara="1" rIns="110000" wrap="square" tIns="110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3609300" y="3137250"/>
            <a:ext cx="2035800" cy="1475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No concerns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367875" y="3181475"/>
            <a:ext cx="2035800" cy="1475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None at this time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1229325" y="1101475"/>
            <a:ext cx="1770300" cy="334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Sprinkles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3786325" y="531075"/>
            <a:ext cx="1976700" cy="373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Macbook Air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1003125" y="1612875"/>
            <a:ext cx="2035800" cy="334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5/10/23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406350" y="2114450"/>
            <a:ext cx="1593300" cy="373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sprinkles.com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4071525" y="1622700"/>
            <a:ext cx="1691400" cy="777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ordering 12 birthday cupcakes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online</a:t>
            </a:r>
            <a:endParaRPr/>
          </a:p>
        </p:txBody>
      </p:sp>
      <p:sp>
        <p:nvSpPr>
          <p:cNvPr id="61" name="Google Shape;61;p1"/>
          <p:cNvSpPr txBox="1"/>
          <p:nvPr/>
        </p:nvSpPr>
        <p:spPr>
          <a:xfrm>
            <a:off x="4042025" y="1062150"/>
            <a:ext cx="16914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Google Chrome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/>
          <p:nvPr/>
        </p:nvSpPr>
        <p:spPr>
          <a:xfrm rot="10433365">
            <a:off x="800052" y="4400496"/>
            <a:ext cx="124005" cy="162037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/>
          <p:nvPr/>
        </p:nvSpPr>
        <p:spPr>
          <a:xfrm>
            <a:off x="3555425" y="961775"/>
            <a:ext cx="2100000" cy="140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 concerns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6464100" y="950550"/>
            <a:ext cx="2436900" cy="151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None at this time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3521750" y="3030575"/>
            <a:ext cx="2335800" cy="159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Doesn’t give user the ability to modify or edit  orders easily without starting the order over.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6385475" y="3118000"/>
            <a:ext cx="2515500" cy="151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Put an “edit” button &amp; “remove” button to allow users more control over the ordering process.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657225" y="2257425"/>
            <a:ext cx="95400" cy="1524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2000250" y="4368200"/>
            <a:ext cx="95400" cy="1524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/>
        </p:nvSpPr>
        <p:spPr>
          <a:xfrm>
            <a:off x="3289125" y="910450"/>
            <a:ext cx="2100000" cy="140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The scroll bar for customization under “decorate your box” doesn’t list prices, but charges an additional fee at checkout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6158475" y="910450"/>
            <a:ext cx="2436900" cy="151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Include prices next to customization choices in the scroll bar to avoid call-ins to store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3255450" y="3055450"/>
            <a:ext cx="2335800" cy="159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Email address bar doesn’t indicate errors w/ incorrect or invalid input.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6119175" y="3066675"/>
            <a:ext cx="2515500" cy="151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Have website notify </a:t>
            </a:r>
            <a:r>
              <a:rPr lang="en"/>
              <a:t>when invalid responses are entered; error messages to prevent loss of repeat customers because of incorrect emails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924050" y="2210050"/>
            <a:ext cx="139200" cy="216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1924050" y="4366275"/>
            <a:ext cx="139200" cy="216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/>
        </p:nvSpPr>
        <p:spPr>
          <a:xfrm>
            <a:off x="3454925" y="993350"/>
            <a:ext cx="2103300" cy="138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 concerns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6365100" y="917150"/>
            <a:ext cx="2420400" cy="151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None at this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3406750" y="3073375"/>
            <a:ext cx="2331000" cy="159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 concerns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6286650" y="3084600"/>
            <a:ext cx="2499000" cy="151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None at this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85775" y="2298050"/>
            <a:ext cx="114300" cy="18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85775" y="4487275"/>
            <a:ext cx="114300" cy="180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/>
        </p:nvSpPr>
        <p:spPr>
          <a:xfrm>
            <a:off x="3448250" y="910450"/>
            <a:ext cx="2100000" cy="140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 concerns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6356925" y="899225"/>
            <a:ext cx="2436900" cy="151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None at this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3414575" y="2979250"/>
            <a:ext cx="2335800" cy="159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 concerns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6278300" y="3066675"/>
            <a:ext cx="2515500" cy="151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None at this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47700" y="2190750"/>
            <a:ext cx="152400" cy="209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647700" y="4286250"/>
            <a:ext cx="133500" cy="171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/>
        </p:nvSpPr>
        <p:spPr>
          <a:xfrm>
            <a:off x="3448250" y="910450"/>
            <a:ext cx="2100000" cy="140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 concerns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6356925" y="899225"/>
            <a:ext cx="2436900" cy="151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None at this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1277625" y="2858300"/>
            <a:ext cx="76536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There is a messed up hover action  line under the apply promo button at check out that is not correct in the code, it doesn’t disappear when not hoovering.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The X button is very light and hard to read in the corner of order preview when reviewing the order before checkout- consider removing it after adding an “edit” / “remove” button.</a:t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38175" y="2219325"/>
            <a:ext cx="123900" cy="1962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